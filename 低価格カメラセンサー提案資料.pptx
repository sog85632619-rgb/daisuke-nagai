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822960"/>
            <a:ext cx="685800" cy="685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1031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低価格 監視・防犯カメラ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22960" y="3017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部品構成・製品仕様のご提案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822960" y="3977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販売価格 5万円 → 3万円台の実現に向けて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22960" y="5943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2026年7月19日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背景と目標コスト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8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販売価格3万円台・原価率80%から製造原価目標を逆算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70048" cy="2286000"/>
          </a:xfrm>
          <a:prstGeom prst="roundRect">
            <a:avLst>
              <a:gd name="adj" fmla="val 3200"/>
            </a:avLst>
          </a:prstGeom>
          <a:solidFill>
            <a:srgbClr val="F4F6FB"/>
          </a:solidFill>
          <a:ln w="12700">
            <a:solidFill>
              <a:srgbClr val="D6DE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74520"/>
            <a:ext cx="2304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3万円台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9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目標販売価格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230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28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従来 5万円〜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01568" y="1645920"/>
            <a:ext cx="2670048" cy="2286000"/>
          </a:xfrm>
          <a:prstGeom prst="roundRect">
            <a:avLst>
              <a:gd name="adj" fmla="val 3200"/>
            </a:avLst>
          </a:prstGeom>
          <a:solidFill>
            <a:srgbClr val="F4F6FB"/>
          </a:solidFill>
          <a:ln w="12700">
            <a:solidFill>
              <a:srgbClr val="D6DE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84448" y="1874520"/>
            <a:ext cx="2304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80%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584448" y="274320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9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原価率（指定値）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84448" y="3200400"/>
            <a:ext cx="230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28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販売価格に対する原価の割合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54496" y="1645920"/>
            <a:ext cx="2670048" cy="2286000"/>
          </a:xfrm>
          <a:prstGeom prst="roundRect">
            <a:avLst>
              <a:gd name="adj" fmla="val 3200"/>
            </a:avLst>
          </a:prstGeom>
          <a:solidFill>
            <a:srgbClr val="F4F6FB"/>
          </a:solidFill>
          <a:ln w="12700">
            <a:solidFill>
              <a:srgbClr val="D6DE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37376" y="1874520"/>
            <a:ext cx="2304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2.4〜3.1万円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437376" y="274320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9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製造原価の上限目標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37376" y="3200400"/>
            <a:ext cx="230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28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販売価格×原価率から逆算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07424" y="1645920"/>
            <a:ext cx="2670048" cy="2286000"/>
          </a:xfrm>
          <a:prstGeom prst="roundRect">
            <a:avLst>
              <a:gd name="adj" fmla="val 3200"/>
            </a:avLst>
          </a:prstGeom>
          <a:solidFill>
            <a:srgbClr val="1E2761"/>
          </a:solidFill>
          <a:ln w="12700">
            <a:solidFill>
              <a:srgbClr val="D6DE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90304" y="1874520"/>
            <a:ext cx="2304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0.6〜1.3万円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290304" y="274320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提案構成の設計原価見込み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290304" y="3200400"/>
            <a:ext cx="230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BOM＋組立・検査の概算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343400"/>
            <a:ext cx="11091672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572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結論：</a:t>
            </a:r>
            <a:pPr indent="0" marL="0">
              <a:buNone/>
            </a:pPr>
            <a:r>
              <a:rPr lang="en-US" sz="1500" dirty="0">
                <a:solidFill>
                  <a:srgbClr val="2329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設計原価見込みは原価上限に対して大きく余裕があり、販売価格3万円台は部品構成の刷新だけで現実的に達成可能。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68680" y="5120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28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余裕分は金型・基板設計・ソフトウェア開発費の償却、アプリ／クラウド開発、保証・サポート費に充当できる。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コスト削減の基本方針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8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4つの方針で部品点数・認証費用・機能コストを圧縮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1672" cy="1051560"/>
          </a:xfrm>
          <a:prstGeom prst="roundRect">
            <a:avLst>
              <a:gd name="adj" fmla="val 6087"/>
            </a:avLst>
          </a:prstGeom>
          <a:solidFill>
            <a:srgbClr val="F4F6FB"/>
          </a:solidFill>
          <a:ln w="12700">
            <a:solidFill>
              <a:srgbClr val="D6DE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373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1865376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61848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カメラ用SoCへの機能統合（最大の削減要因）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00200" y="198424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9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ISP・H.265エンコーダ・CPU・DRAMを1チップに統合。多チップ構成をやめ、チップ数・基板面積・電源回路を同時に削減し基板を1枚化。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743200"/>
            <a:ext cx="11091672" cy="1051560"/>
          </a:xfrm>
          <a:prstGeom prst="roundRect">
            <a:avLst>
              <a:gd name="adj" fmla="val 6087"/>
            </a:avLst>
          </a:prstGeom>
          <a:solidFill>
            <a:srgbClr val="F4F6FB"/>
          </a:solidFill>
          <a:ln w="12700">
            <a:solidFill>
              <a:srgbClr val="D6DE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7240" y="297180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3099816"/>
            <a:ext cx="338328" cy="3383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285292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民生量産グレードの汎用部品を採用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600200" y="321868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9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監視カメラ市場で大量流通する2MPセンサーと汎用M12ボードレンズを採用。専用設計品を避け、単価とMOQ（最低発注数量）を同時に下げる。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11091672" cy="1051560"/>
          </a:xfrm>
          <a:prstGeom prst="roundRect">
            <a:avLst>
              <a:gd name="adj" fmla="val 6087"/>
            </a:avLst>
          </a:prstGeom>
          <a:solidFill>
            <a:srgbClr val="F4F6FB"/>
          </a:solidFill>
          <a:ln w="12700">
            <a:solidFill>
              <a:srgbClr val="D6DE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420624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4334256"/>
            <a:ext cx="338328" cy="3383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08736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Wi-Fiは電波法（技適）認証取得済みモジュール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600200" y="445312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9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モジュールの工事設計認証を流用し、機器側の認証取得費用（数十万〜百万円規模）と数か月の認証期間を回避。少〜中量産では総コストで有利。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5212080"/>
            <a:ext cx="11091672" cy="1051560"/>
          </a:xfrm>
          <a:prstGeom prst="roundRect">
            <a:avLst>
              <a:gd name="adj" fmla="val 6087"/>
            </a:avLst>
          </a:prstGeom>
          <a:solidFill>
            <a:srgbClr val="F4F6FB"/>
          </a:solidFill>
          <a:ln w="12700">
            <a:solidFill>
              <a:srgbClr val="D6DEF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77240" y="544068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5568696"/>
            <a:ext cx="338328" cy="33832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532180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機能の取捨選択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600200" y="568756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9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光学ズーム・4K・金属筐体など監視用途で必須でない機能を外し、フルHD／固定焦点／樹脂筐体を標準とする。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推奨部品構成（案A：標準構成）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8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フルHD・夜間撮影対応・Wi-Fi接続／概算単価は量産数百〜数千台規模の目安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795528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4114800"/>
                <a:gridCol w="1371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部品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推奨候補（例）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概算単価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イメージセンサー（2MP CMOS）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SmartSens SC2336 / GalaxyCore GC2053 / SOI JX-F37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300〜800円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カメラ用SoC（ISP＋H.265＋CPU）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Ingenic T31 / T23、SigmaStar SSC335 / SSC30K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500〜1,500円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レンズ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汎用M12マウント固定焦点（f=2.8〜4mm、F2.0前後）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200〜600円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夜間対応（ICR＋IR-LED）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汎用ICRユニット＋850nm LED×4〜6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400〜800円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Wi-Fiモジュール（技適取得済み）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太陽誘電／村田製作所／ESP32-WROOM-32E 等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500〜1,500円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フラッシュメモリ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SPI NOR 16MB（DRAMはSoC内蔵SIPを利用）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100〜200円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電源回路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USB Type-C 5V入力＋DC-DC（ACアダプタは別途同梱）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300〜500円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基板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4層1枚構成（センサー同居）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500〜1,000円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筐体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樹脂（ABS/PC）射出成形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800〜1,500円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その他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microSDスロット・コネクタ・受動部品・梱包 等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550〜1,100円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732520" y="1554480"/>
            <a:ext cx="2907792" cy="896112"/>
          </a:xfrm>
          <a:prstGeom prst="roundRect">
            <a:avLst>
              <a:gd name="adj" fmla="val 7143"/>
            </a:avLst>
          </a:prstGeom>
          <a:solidFill>
            <a:srgbClr val="F4F6FB"/>
          </a:solidFill>
          <a:ln w="12700">
            <a:solidFill>
              <a:srgbClr val="D6DEF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915400" y="16459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28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部品代（BOM）小計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915400" y="19385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約4,200〜9,500円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732520" y="2606040"/>
            <a:ext cx="2907792" cy="896112"/>
          </a:xfrm>
          <a:prstGeom prst="roundRect">
            <a:avLst>
              <a:gd name="adj" fmla="val 7143"/>
            </a:avLst>
          </a:prstGeom>
          <a:solidFill>
            <a:srgbClr val="F4F6FB"/>
          </a:solidFill>
          <a:ln w="12700">
            <a:solidFill>
              <a:srgbClr val="D6DEF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915400" y="26974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28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組立・検査・書込み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915400" y="299008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1,500〜3,500円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8732520" y="3657600"/>
            <a:ext cx="2907792" cy="896112"/>
          </a:xfrm>
          <a:prstGeom prst="roundRect">
            <a:avLst>
              <a:gd name="adj" fmla="val 714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15400" y="3749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製造原価 合計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915400" y="404164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約6,000〜13,000円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8732520" y="4800600"/>
            <a:ext cx="29077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原価上限目標 24,000〜31,000円に対して大幅な余裕。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A628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画質重視の場合はセンサーをSONY IMX307（＋1,500〜2,500円）へ差し替え可。単価は市場相場ベースの概算で、正式には商社見積で確認。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現行構成（想定）との比較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8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多チップ・金属筐体・有線中心の現行想定に対する削減ポイント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566160"/>
                <a:gridCol w="3017520"/>
                <a:gridCol w="3227832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項目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現行想定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提案構成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削減効果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映像処理</a:t>
                      </a:r>
                      <a:endParaRPr lang="en-US" sz="11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センサー＋外付けISP＋エンコーダ＋汎用CPU（3〜4チップ）</a:t>
                      </a:r>
                      <a:endParaRPr lang="en-US" sz="11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カメラ用SoC 1チップ</a:t>
                      </a:r>
                      <a:endParaRPr lang="en-US" sz="11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チップ代・基板面積・電源回路を大幅削減</a:t>
                      </a:r>
                      <a:endParaRPr lang="en-US" sz="11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メモリ</a:t>
                      </a:r>
                      <a:endParaRPr lang="en-US" sz="11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外付けDDR＋NAND</a:t>
                      </a:r>
                      <a:endParaRPr lang="en-US" sz="11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SoC内蔵DDR（SIP）＋SPI NOR</a:t>
                      </a:r>
                      <a:endParaRPr lang="en-US" sz="11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部品2点削減</a:t>
                      </a:r>
                      <a:endParaRPr lang="en-US" sz="11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基板</a:t>
                      </a:r>
                      <a:endParaRPr lang="en-US" sz="11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2枚構成（センサー基板＋メイン基板）</a:t>
                      </a:r>
                      <a:endParaRPr lang="en-US" sz="11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4層1枚</a:t>
                      </a:r>
                      <a:endParaRPr lang="en-US" sz="11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基板・コネクタ・組立工数削減</a:t>
                      </a:r>
                      <a:endParaRPr lang="en-US" sz="11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通信</a:t>
                      </a:r>
                      <a:endParaRPr lang="en-US" sz="11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有線LAN＋別途無線オプション</a:t>
                      </a:r>
                      <a:endParaRPr lang="en-US" sz="11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技適済みWi-Fiモジュール標準搭載</a:t>
                      </a:r>
                      <a:endParaRPr lang="en-US" sz="11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認証費用・期間を回避、配線工事不要を訴求点に</a:t>
                      </a:r>
                      <a:endParaRPr lang="en-US" sz="11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筐体</a:t>
                      </a:r>
                      <a:endParaRPr lang="en-US" sz="11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金属（アルミダイカスト等）</a:t>
                      </a:r>
                      <a:endParaRPr lang="en-US" sz="11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樹脂射出成形</a:t>
                      </a:r>
                      <a:endParaRPr lang="en-US" sz="11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単価で数千円規模の削減（金型償却は必要）</a:t>
                      </a:r>
                      <a:endParaRPr lang="en-US" sz="11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構成バリエーション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8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いずれも原価目標内。開発力・画質要件・立ち上げ速度で選択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66160" cy="2880360"/>
          </a:xfrm>
          <a:prstGeom prst="roundRect">
            <a:avLst>
              <a:gd name="adj" fmla="val 285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574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案A（推奨・標準）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製造原価目安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6,000〜13,000円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フルHD＋夜間対応（ICR＋IR-LED）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技適済みWi-Fi標準搭載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屋内外の一般的な監視用途向け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34256" y="1828800"/>
            <a:ext cx="3566160" cy="2880360"/>
          </a:xfrm>
          <a:prstGeom prst="roundRect">
            <a:avLst>
              <a:gd name="adj" fmla="val 2857"/>
            </a:avLst>
          </a:prstGeom>
          <a:solidFill>
            <a:srgbClr val="F4F6FB"/>
          </a:solidFill>
          <a:ln w="12700">
            <a:solidFill>
              <a:srgbClr val="D6DE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08576" y="20574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案B（最安）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608576" y="25146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28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製造原価目安  </a:t>
            </a:r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5,000〜10,000円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608576" y="310896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329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案AからICR・IR-LED・microSDを省略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329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昼間専用の構成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329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屋内昼間のみ・店舗内などに限定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19872" y="1828800"/>
            <a:ext cx="3566160" cy="2880360"/>
          </a:xfrm>
          <a:prstGeom prst="roundRect">
            <a:avLst>
              <a:gd name="adj" fmla="val 2857"/>
            </a:avLst>
          </a:prstGeom>
          <a:solidFill>
            <a:srgbClr val="F4F6FB"/>
          </a:solidFill>
          <a:ln w="12700">
            <a:solidFill>
              <a:srgbClr val="D6DE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94192" y="20574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案C（開発短縮）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394192" y="25146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28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製造原価目安  </a:t>
            </a:r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8,000〜15,000円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394192" y="310896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329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完成カメラモジュールを購入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329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キャリア基板と筐体のみ自社設計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329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基板設計・ISP画質調整の工数を大幅削減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52120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推奨の進め方：</a:t>
            </a:r>
            <a:pPr indent="0" marL="0">
              <a:buNone/>
            </a:pPr>
            <a:r>
              <a:rPr lang="en-US" sz="1350" dirty="0">
                <a:solidFill>
                  <a:srgbClr val="2329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初回製品は案Cで早期に市場投入し、販売数量が見えた段階で案Aの自社設計に切り替える二段構えが有効。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製品仕様①　映像・光学系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8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目標仕様（企画段階）。数値は部品選定・試作評価で確定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2112264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2048256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映像</a:t>
            </a:r>
            <a:endParaRPr lang="en-US" sz="1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78608"/>
          <a:ext cx="53949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2918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イメージセンサー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1/2.7〜1/3型 2MP CMOS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解像度／フレームレート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1920×1080（フルHD）／最大30fps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映像圧縮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H.265＋H.264、デュアルストリーム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最低被写体照度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カラー0.1lx程度／IR照射時0lx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ISP機能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AWB／AE／WDR／3Dノイズリダクション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263640" y="20116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224" y="2112264"/>
            <a:ext cx="256032" cy="2560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858000" y="2048256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光学系・夜間対応</a:t>
            </a:r>
            <a:endParaRPr lang="en-US" sz="17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2578608"/>
          <a:ext cx="53949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2918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レンズ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M12マウント固定焦点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焦点距離／F値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f=2.8〜4mm（SKU選択）／F2.0前後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水平画角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約80〜110°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デイナイト切替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ICR（機械式IRカットフィルタ）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赤外線照明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850nm IR-LED×4〜6灯、照射5〜10m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12" name="Text 6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28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 低照度性能・消費電力の実測値はセンサー／SoCの最終選定後に試作で確定させる。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製品仕様②　通信・録画・電源・機構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8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目標仕様（企画段階）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1472184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408176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通信・ネットワーク</a:t>
            </a:r>
            <a:endParaRPr lang="en-US" sz="1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38528"/>
          <a:ext cx="53949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4747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無線LAN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IEEE 802.11b/g/n（2.4GHz帯）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無線モジュール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技適（工事設計認証）取得済み品を採用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プロトコル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RTSP／HTTP(S)／DHCP／NTP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スマホ連携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専用アプリでライブ視聴・設定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39776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4078224"/>
            <a:ext cx="256032" cy="2560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43000" y="4014216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録画・ストレージ</a:t>
            </a:r>
            <a:endParaRPr lang="en-US" sz="17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44568"/>
          <a:ext cx="53949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4747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ローカル録画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microSD最大256GB、上書き循環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録画モード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常時録画／動体検知録画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クラウド録画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将来オプション（必須要件外）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12" name="Shape 6"/>
          <p:cNvSpPr/>
          <p:nvPr/>
        </p:nvSpPr>
        <p:spPr>
          <a:xfrm>
            <a:off x="6263640" y="13716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4" y="1472184"/>
            <a:ext cx="256032" cy="25603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858000" y="1408176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電源</a:t>
            </a:r>
            <a:endParaRPr lang="en-US" sz="1700" dirty="0"/>
          </a:p>
        </p:txBody>
      </p:sp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938528"/>
          <a:ext cx="53949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4747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電源入力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USB Type-C、DC5V/2A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ACアダプタ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PSE適合の汎用品を同梱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消費電力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通常3W以下／IR点灯時5W以下（目標）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16" name="Shape 8"/>
          <p:cNvSpPr/>
          <p:nvPr/>
        </p:nvSpPr>
        <p:spPr>
          <a:xfrm>
            <a:off x="6263640" y="36118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3712464"/>
            <a:ext cx="256032" cy="256032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6858000" y="3648456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機構・環境条件</a:t>
            </a:r>
            <a:endParaRPr lang="en-US" sz="1700" dirty="0"/>
          </a:p>
        </p:txBody>
      </p:sp>
      <p:graphicFrame>
        <p:nvGraphicFramePr>
          <p:cNvPr id="3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4178808"/>
          <a:ext cx="53949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4747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筐体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樹脂（ABS/PC）射出成形、200g以下目標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設置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卓上＋壁／天井ブラケット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動作温度／湿度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-10〜+45℃／90%RH以下（結露なし）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防水防塵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屋内：なし／屋外派生：IP65目標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認証・セキュリティとリスク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8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技適済みモジュール活用の注意点と、採用部品のリスク管理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1563624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499616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認証・セキュリティ</a:t>
            </a:r>
            <a:endParaRPr lang="en-US" sz="1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544068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4023360"/>
              </a:tblGrid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電波法（技適）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Wi-Fiモジュールの工事設計認証を利用し、機器単体の新規取得は不要。技適マーク・番号は本体または電磁的表示で対応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PSE／EMC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ACアダプタはPSE適合品を同梱。EMCはVCCIクラスB適合を目標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セキュリティ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94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初期パスワード強制変更、TLS通信、署名検証付きファームウェア自動更新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309360" y="146304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9944" y="1563624"/>
            <a:ext cx="256032" cy="2560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903720" y="1499616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リスクと検討事項</a:t>
            </a:r>
            <a:endParaRPr lang="en-US" sz="1700" dirty="0"/>
          </a:p>
        </p:txBody>
      </p:sp>
      <p:sp>
        <p:nvSpPr>
          <p:cNvPr id="11" name="Shape 6"/>
          <p:cNvSpPr/>
          <p:nvPr/>
        </p:nvSpPr>
        <p:spPr>
          <a:xfrm>
            <a:off x="6309360" y="2057400"/>
            <a:ext cx="5330952" cy="91440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D6DEF2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10528" y="213055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供給安定性・EOL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6510528" y="2404872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329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低価格SoC／センサーは製品サイクルが短い。フットプリント互換の代替品（SC2336⇔GC2053等）を初期設計から想定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6309360" y="3090672"/>
            <a:ext cx="5330952" cy="91440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D6DEF2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510528" y="316382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技適済みモジュールの使用条件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6510528" y="3438144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329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認証条件どおりのアンテナ構成・配置で使用（逸脱すると認証無効）。モジュール価格はベアチップより高いが認証費回避で総コスト有利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6309360" y="4123944"/>
            <a:ext cx="5330952" cy="91440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D6DEF2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510528" y="419709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MOQ・為替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510528" y="4471416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329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中国系部品はMOQ数百〜数千個・米ドル建て。原価に±10%程度のバッファを織り込む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309360" y="5157216"/>
            <a:ext cx="5330952" cy="91440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D6DEF2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510528" y="52303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画質チューニング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510528" y="5504688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329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SoCベンダーのチューニング済みリファレンス構成（センサー組み合わせ）から選び工数を圧縮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28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 概算単価は公開情報・市場相場ベース。正式な価格・供給条件は各メーカー・商社への見積で確認。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68580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4173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まとめ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822960" y="246888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Text 2"/>
          <p:cNvSpPr/>
          <p:nvPr/>
        </p:nvSpPr>
        <p:spPr>
          <a:xfrm>
            <a:off x="82296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554480" y="242316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3万円台は部品構成の刷新だけで達成可能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554480" y="2825496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原価上限24,000〜31,000円に対し、提案構成の製造原価は約6,000〜13,000円の見込み。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22960" y="370332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554480" y="365760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柱はSoC統合＋汎用部品＋技適済みWi-Fiモジュール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554480" y="4059936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1チップ統合で部品点数を削減し、モジュール認証流用で電波法認証の費用・期間を回避。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22960" y="493776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554480" y="489204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次のステップ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1554480" y="5294376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SoC／センサーの商社見積とリファレンス構成の確認 → 案C（完成モジュール）での早期試作 → 数量が見えた段階で案Aの自社設計へ移行。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2026-07-19T04:16:17Z</dcterms:created>
  <dcterms:modified xsi:type="dcterms:W3CDTF">2026-07-19T04:16:17Z</dcterms:modified>
</cp:coreProperties>
</file>